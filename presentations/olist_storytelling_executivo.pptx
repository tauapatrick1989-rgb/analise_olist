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3f58afc4b74361" /><Relationship Type="http://schemas.openxmlformats.org/officeDocument/2006/relationships/extended-properties" Target="/docProps/app.xml" Id="R180ecb3b749c4524" /><Relationship Type="http://schemas.openxmlformats.org/officeDocument/2006/relationships/officeDocument" Target="/ppt/presentation.xml" Id="R8e74f30808fc4f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6f423f415f46a5"/>
  </p:sldMasterIdLst>
  <p:notesMasterIdLst>
    <p:notesMasterId xmlns:r="http://schemas.openxmlformats.org/officeDocument/2006/relationships" r:id="Rd0ece32a3c2b4fe4"/>
  </p:notesMasterIdLst>
  <p:sldIdLst>
    <p:sldId xmlns:r="http://schemas.openxmlformats.org/officeDocument/2006/relationships" id="256" r:id="Rb8300291373c47c0"/>
    <p:sldId xmlns:r="http://schemas.openxmlformats.org/officeDocument/2006/relationships" id="257" r:id="R50bdb02695a8480e"/>
    <p:sldId xmlns:r="http://schemas.openxmlformats.org/officeDocument/2006/relationships" id="258" r:id="R7b64f255f68840af"/>
    <p:sldId xmlns:r="http://schemas.openxmlformats.org/officeDocument/2006/relationships" id="259" r:id="R955051c28eeb4a2d"/>
    <p:sldId xmlns:r="http://schemas.openxmlformats.org/officeDocument/2006/relationships" id="260" r:id="Ref51fc8adbfe4d32"/>
    <p:sldId xmlns:r="http://schemas.openxmlformats.org/officeDocument/2006/relationships" id="261" r:id="Ra5a4de84b30d4a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793815f7d04a9b" /><Relationship Type="http://schemas.openxmlformats.org/officeDocument/2006/relationships/slideMaster" Target="/ppt/slideMasters/slideMaster1.xml" Id="Ra36f423f415f46a5" /><Relationship Type="http://schemas.openxmlformats.org/officeDocument/2006/relationships/notesMaster" Target="/ppt/notesMasters/notesMaster1.xml" Id="Rd0ece32a3c2b4fe4" /><Relationship Type="http://schemas.openxmlformats.org/officeDocument/2006/relationships/presProps" Target="/ppt/presProps.xml" Id="R46c5960cab354b87" /><Relationship Type="http://schemas.openxmlformats.org/officeDocument/2006/relationships/tableStyles" Target="/ppt/tableStyles.xml" Id="R4cfadb5b774545ca" /><Relationship Type="http://schemas.openxmlformats.org/officeDocument/2006/relationships/slide" Target="/ppt/slides/slide1.xml" Id="Rb8300291373c47c0" /><Relationship Type="http://schemas.openxmlformats.org/officeDocument/2006/relationships/slide" Target="/ppt/slides/slide2.xml" Id="R50bdb02695a8480e" /><Relationship Type="http://schemas.openxmlformats.org/officeDocument/2006/relationships/slide" Target="/ppt/slides/slide3.xml" Id="R7b64f255f68840af" /><Relationship Type="http://schemas.openxmlformats.org/officeDocument/2006/relationships/slide" Target="/ppt/slides/slide4.xml" Id="R955051c28eeb4a2d" /><Relationship Type="http://schemas.openxmlformats.org/officeDocument/2006/relationships/slide" Target="/ppt/slides/slide5.xml" Id="Ref51fc8adbfe4d32" /><Relationship Type="http://schemas.openxmlformats.org/officeDocument/2006/relationships/slide" Target="/ppt/slides/slide6.xml" Id="Ra5a4de84b30d4a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65fe9b8faf49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dd41900c9146ba" /><Relationship Type="http://schemas.openxmlformats.org/officeDocument/2006/relationships/notesMaster" Target="/ppt/notesMasters/notesMaster1.xml" Id="R72207363383744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923cc9e6754a63" /><Relationship Type="http://schemas.openxmlformats.org/officeDocument/2006/relationships/notesMaster" Target="/ppt/notesMasters/notesMaster1.xml" Id="R2aee67ebdd0740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3dda56c97c4262" /><Relationship Type="http://schemas.openxmlformats.org/officeDocument/2006/relationships/notesMaster" Target="/ppt/notesMasters/notesMaster1.xml" Id="R0ec0b082922a4e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5acaa9e8544850" /><Relationship Type="http://schemas.openxmlformats.org/officeDocument/2006/relationships/notesMaster" Target="/ppt/notesMasters/notesMaster1.xml" Id="Raa50d009c70f40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0ed19e4a6d4966" /><Relationship Type="http://schemas.openxmlformats.org/officeDocument/2006/relationships/notesMaster" Target="/ppt/notesMasters/notesMaster1.xml" Id="R984cd2c8f8c74a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d840674f4a4134" /><Relationship Type="http://schemas.openxmlformats.org/officeDocument/2006/relationships/notesMaster" Target="/ppt/notesMasters/notesMaster1.xml" Id="R74787c69130642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Brazilian E-Commerce Public Dataset by Olist. Compras entre jan/2017 e jul/2018, pedidos entregues. Relatório: docs/relatorio_executivo.md.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reports/tabelas/comparativo_jan_jul.csv. Pedidos entregues por data de compra, janeiro a julho nos dois anos. Pedidos 17.805 e 46.432; valor dos itens R$ 2.438.756,43 e R$ 6.379.548,48; ticket R$ 136,97 e R$ 137,40. Comparação descritiva, sem ajuste de mercado.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reports/tabelas/metricas_ufs.csv e metricas_categorias_top15.csv. UFs correspondem ao cliente, não ao vendedor. Participação SP 37,8%; RJ 13,4%; MG 11,8%. Quatro maiores categorias somam 33,0%. Sem dados de mercado externo, não inferir potencial regional ou margem.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reports/tabelas/entrega_e_avaliacao.csv. 89.852 pedidos com prazo observável, 6.138 atrasados (6,8%). Entre pedidos avaliados, nota 1 ou 2 em 9,4% dos 83.237 no prazo e em 63,7% dos 5.993 atrasados. A classificação marca qualquer avaliação 1 ou 2 por pedido. Associação observacional, não causal.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Plano proposto, não resultado medido. Atualizar dados recentes, identificar rotas e vendedores das categorias e regiões de maior valor, definir piloto comparável e acompanhar taxa de atraso, notas 1 ou 2, volume de pedidos e custos. O dataset histórico não contém margem nem custo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relatório e o código estão no repositório. Limitações: dados históricos 2017–2018; pedidos apenas entregues; valor dos itens não equivale a lucro nem receita líquida; associação entre atraso e nota sem identificação causal; sem previsão ou retorno financeiro quantificado.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3f57e283f46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0013ca0c964fb0" /><Relationship Type="http://schemas.openxmlformats.org/officeDocument/2006/relationships/slideLayout" Target="/ppt/slideLayouts/slideLayout1.xml" Id="R2c1d51400be14c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1d51400be14c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c494ccca348bf" /><Relationship Type="http://schemas.openxmlformats.org/officeDocument/2006/relationships/notesSlide" Target="/ppt/notesSlides/notesSlide1.xml" Id="Rff56269b5abd45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b49ef283d4cdf" /><Relationship Type="http://schemas.openxmlformats.org/officeDocument/2006/relationships/chart" Target="/ppt/slides/charts/chart1.xml" Id="Rd05fb1a67c9f45d0" /><Relationship Type="http://schemas.openxmlformats.org/officeDocument/2006/relationships/notesSlide" Target="/ppt/notesSlides/notesSlide2.xml" Id="Rc555228af4b144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8e9a8985b4830" /><Relationship Type="http://schemas.openxmlformats.org/officeDocument/2006/relationships/chart" Target="/ppt/slides/charts/chart2.xml" Id="R704ea2855e364ad4" /><Relationship Type="http://schemas.openxmlformats.org/officeDocument/2006/relationships/notesSlide" Target="/ppt/notesSlides/notesSlide3.xml" Id="R5a0d0feaf56c40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46e9c04474137" /><Relationship Type="http://schemas.openxmlformats.org/officeDocument/2006/relationships/chart" Target="/ppt/slides/charts/chart3.xml" Id="Rb43b30b726114d6a" /><Relationship Type="http://schemas.openxmlformats.org/officeDocument/2006/relationships/notesSlide" Target="/ppt/notesSlides/notesSlide4.xml" Id="R19439ee95aa443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58033fc4c4fc3" /><Relationship Type="http://schemas.openxmlformats.org/officeDocument/2006/relationships/notesSlide" Target="/ppt/notesSlides/notesSlide5.xml" Id="R65c1e8ae952446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ba5a92d7c4e04" /><Relationship Type="http://schemas.openxmlformats.org/officeDocument/2006/relationships/notesSlide" Target="/ppt/notesSlides/notesSlide6.xml" Id="R23e2bc744ae041e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Pedidos entregues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Data'!$A$2:$A$3</c:f>
              <c:strCache>
                <c:ptCount val="2"/>
                <c:pt idx="0">
                  <c:v>Jan–jul 2017</c:v>
                </c:pt>
                <c:pt idx="1">
                  <c:v>Jan–jul 2018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17805</c:v>
                </c:pt>
                <c:pt idx="1">
                  <c:v>46432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02A43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% do valor dos itens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SP</c:v>
                </c:pt>
                <c:pt idx="1">
                  <c:v>RJ</c:v>
                </c:pt>
                <c:pt idx="2">
                  <c:v>MG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37.8</c:v>
                </c:pt>
                <c:pt idx="1">
                  <c:v>13.4</c:v>
                </c:pt>
                <c:pt idx="2">
                  <c:v>11.8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02A43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% com nota 1 ou 2</c:v>
          </c:tx>
          <c:spPr>
            <a:solidFill xmlns:a="http://schemas.openxmlformats.org/drawingml/2006/main">
              <a:srgbClr val="C7634E"/>
            </a:solidFill>
          </c:spPr>
          <c:cat>
            <c:strRef>
              <c:f>'Chart Data'!$A$2:$A$3</c:f>
              <c:strCache>
                <c:ptCount val="2"/>
                <c:pt idx="0">
                  <c:v>No prazo</c:v>
                </c:pt>
                <c:pt idx="1">
                  <c:v>Atrasou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9.4</c:v>
                </c:pt>
                <c:pt idx="1">
                  <c:v>63.7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02A43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FC05A-75DD-46E5-A0C5-5D3EF3E3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Olist: crescimento e qualidade da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2E2DE-06CA-4E5A-B3C2-0C5DA91A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Análise histórica para orientar uma decisão de investimento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AF06C-17CB-423D-80A9-C06145BE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00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Atualizar os indicadores e investigar atrasos antes de ampliar a operação.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2D16C-7032-4382-8B92-917FA839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Tech Challenge FIAP, Fase 1  |  Dados históricos de 2017 e 2018</a:t>
            </a:r>
          </a:p>
        </p:txBody>
      </p:sp>
    </p:spTree>
    <p:extLst>
      <p:ext uri="{BB962C8B-B14F-4D97-AF65-F5344CB8AC3E}">
        <p14:creationId xmlns:p14="http://schemas.microsoft.com/office/powerpoint/2010/main" val="83848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9CD0A-A475-4811-A1D3-D21D218E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Mais pedidos explicam a maior parte do crescimento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F6232-2388-448A-9DAC-FD29B61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859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Pedidos entregues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57250" y="1790700"/>
          <a:ext xmlns:a="http://schemas.openxmlformats.org/drawingml/2006/main" cx="6667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5fb1a67c9f45d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AB7D7-B055-4784-AB94-CD2FFC0F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+160,8%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19748-54AC-4874-8AC9-16CCF8E3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pedidos entregues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65CDC-20B1-406A-8CA0-237CB13E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+161,6% em valor dos itens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9DFCD-1F0E-466B-BA50-3239819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Ticket: R$ 136,97 para R$ 137,40 (+0,3%)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8D78F-F110-43E7-94B2-A5227651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Comparação: janeiro a julho de cada ano. Valor dos itens, sem frete.</a:t>
            </a:r>
          </a:p>
        </p:txBody>
      </p:sp>
    </p:spTree>
    <p:extLst>
      <p:ext uri="{BB962C8B-B14F-4D97-AF65-F5344CB8AC3E}">
        <p14:creationId xmlns:p14="http://schemas.microsoft.com/office/powerpoint/2010/main" val="759039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B0959-667A-423A-8336-1E9CF841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SP, RJ e MG concentram 63% do valor dos itens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8CA94-81A3-4922-833F-19359068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621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Participação no valor dos itens (%)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57250" y="1905000"/>
          <a:ext xmlns:a="http://schemas.openxmlformats.org/drawingml/2006/main" cx="66675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4ea2855e364ad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22559-F92D-4340-A564-2FB57B7B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300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33,0%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E5B05-6DBD-46C6-A6B7-32C21829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do valor em quatro categorias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29E8E-DAE0-4ED0-A812-C6B14D04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576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Concentração define onde investigar primeiro.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D56DC-1D9B-4A33-B3FE-A786E6CE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Participação no recorte total. UF do cliente. Categorias pelo valor dos itens.</a:t>
            </a:r>
          </a:p>
        </p:txBody>
      </p:sp>
    </p:spTree>
    <p:extLst>
      <p:ext uri="{BB962C8B-B14F-4D97-AF65-F5344CB8AC3E}">
        <p14:creationId xmlns:p14="http://schemas.microsoft.com/office/powerpoint/2010/main" val="2139075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5649F-9B2D-4486-A650-9AF62121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Avaliações baixas são mais frequentes nos atrasos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CA92F-1C7D-4D55-B572-17F64FAD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811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Pedidos avaliados com nota 1 ou 2 (%)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57250" y="1952625"/>
          <a:ext xmlns:a="http://schemas.openxmlformats.org/drawingml/2006/main" cx="6858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3b30b726114d6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21312-8D8D-43BA-8ED8-AFB38598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14575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6,8%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FA7E2-9444-4445-99D3-0E7C0AF1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dos pedidos chegaram após a data estimada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D5EAE-4B90-4DDC-86DE-29828FC7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71975"/>
            <a:ext cx="309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A associação não identifica uma causa isolada.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5292B-A14B-44F7-8501-ED63016F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Base: pedidos entregues com datas observáveis. Taxas de nota usam apenas pedidos avaliados.</a:t>
            </a:r>
          </a:p>
        </p:txBody>
      </p:sp>
    </p:spTree>
    <p:extLst>
      <p:ext uri="{BB962C8B-B14F-4D97-AF65-F5344CB8AC3E}">
        <p14:creationId xmlns:p14="http://schemas.microsoft.com/office/powerpoint/2010/main" val="320621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2412C-BB0D-4284-9FCA-5E8A993A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Proposta: atualizar os dados e testar a melhoria de prazo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F9C68-442E-4DBE-85BB-9C3A746F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478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2EE8E-7351-40D9-B457-40AF8522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38350"/>
            <a:ext cx="904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Atualizar a base e confirmar se o padrão persiste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E5E60-6EB8-45AE-8436-758CA141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08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5DDA5-CDDD-4A6A-A562-4C561C25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171825"/>
            <a:ext cx="904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Investigar rotas e vendedores com maior atraso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03435-969B-4B5C-87E0-38816D5E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338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50226-C347-4944-B762-3FE42A9E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05300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Medir o piloto antes de decidir pela ampliação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EFCB0-E7FC-4088-A81F-367D6A7F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Indicadores do piloto: atrasos, notas baixas, pedidos e custos.</a:t>
            </a:r>
          </a:p>
        </p:txBody>
      </p:sp>
    </p:spTree>
    <p:extLst>
      <p:ext uri="{BB962C8B-B14F-4D97-AF65-F5344CB8AC3E}">
        <p14:creationId xmlns:p14="http://schemas.microsoft.com/office/powerpoint/2010/main" val="816348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9F16B-1A93-43EE-9EA3-F1B1143B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Decisão solicitada: autorizar diagnóstico com dados atuais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CFB2A-4ADA-40D7-898A-845F7623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A análise histórica indica onde começar.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3CB7B-599B-4EDA-8755-0B9A06D3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10287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A decisão de investimento depende de dados recentes, custos e evidência de um piloto.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392AD-920A-4DBD-A5C7-5145917D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863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Escopo financeiro: preço dos itens vendidos. Não inclui margem, taxas ou custos.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56CD0-F819-4381-8DE1-9AB4AEB2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770"/>
                </a:solidFill>
                <a:latin typeface="DejaVu Sans"/>
                <a:ea typeface="DejaVu Sans"/>
                <a:cs typeface="DejaVu Sans"/>
              </a:rPr>
              <a:t>Fonte e método: docs/relatorio_executivo.md. Dataset público Olist.</a:t>
            </a:r>
          </a:p>
        </p:txBody>
      </p:sp>
    </p:spTree>
    <p:extLst>
      <p:ext uri="{BB962C8B-B14F-4D97-AF65-F5344CB8AC3E}">
        <p14:creationId xmlns:p14="http://schemas.microsoft.com/office/powerpoint/2010/main" val="383668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2026-09-29T20:05:45.4020000Z</dcterms:created>
  <dcterms:modified xsi:type="dcterms:W3CDTF">2026-09-29T20:05:45.4020000Z</dcterms:modified>
</coreProperties>
</file>